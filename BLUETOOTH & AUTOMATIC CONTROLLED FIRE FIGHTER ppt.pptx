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5" r:id="rId1"/>
  </p:sldMasterIdLst>
  <p:notesMasterIdLst>
    <p:notesMasterId r:id="rId17"/>
  </p:notes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DB6AD99-E9FF-4F00-A37B-FE87A8607B9A}">
          <p14:sldIdLst>
            <p14:sldId id="256"/>
            <p14:sldId id="259"/>
            <p14:sldId id="260"/>
            <p14:sldId id="257"/>
            <p14:sldId id="258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564" autoAdjust="0"/>
  </p:normalViewPr>
  <p:slideViewPr>
    <p:cSldViewPr snapToGrid="0">
      <p:cViewPr>
        <p:scale>
          <a:sx n="56" d="100"/>
          <a:sy n="56" d="100"/>
        </p:scale>
        <p:origin x="-701" y="-1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D9019-7014-452D-9927-828BB49AA014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0556D-FB7A-4BB9-832A-D299B92121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955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0556D-FB7A-4BB9-832A-D299B921218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945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0556D-FB7A-4BB9-832A-D299B921218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957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0556D-FB7A-4BB9-832A-D299B921218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192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0556D-FB7A-4BB9-832A-D299B921218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340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93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11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5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92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73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46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35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56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11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74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745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6379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591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64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4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51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961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109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  <p:sldLayoutId id="2147483930" r:id="rId15"/>
    <p:sldLayoutId id="2147483931" r:id="rId16"/>
    <p:sldLayoutId id="214748393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D8562F-2E5B-4202-8FB5-EA28470AA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6070" y="-258564"/>
            <a:ext cx="8791575" cy="2387600"/>
          </a:xfrm>
        </p:spPr>
        <p:txBody>
          <a:bodyPr/>
          <a:lstStyle/>
          <a:p>
            <a:r>
              <a:rPr lang="en-IN" dirty="0">
                <a:latin typeface="Corbel" panose="020B0503020204020204" pitchFamily="34" charset="0"/>
              </a:rPr>
              <a:t>BLUETOOTH &amp; AUTOMATIC CONTROLLED FIRE FIGHTER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B6CD590-418A-485D-A03B-4B5F7BE4D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212" y="2355942"/>
            <a:ext cx="8791575" cy="3309751"/>
          </a:xfrm>
        </p:spPr>
        <p:txBody>
          <a:bodyPr/>
          <a:lstStyle/>
          <a:p>
            <a:r>
              <a:rPr lang="en-IN" dirty="0">
                <a:latin typeface="Corbel" panose="020B0503020204020204" pitchFamily="34" charset="0"/>
              </a:rPr>
              <a:t>                    AN  IOT </a:t>
            </a:r>
            <a:r>
              <a:rPr lang="en-IN" b="1" dirty="0">
                <a:latin typeface="Corbel" panose="020B0503020204020204" pitchFamily="34" charset="0"/>
              </a:rPr>
              <a:t>Based</a:t>
            </a:r>
            <a:r>
              <a:rPr lang="en-IN" dirty="0">
                <a:latin typeface="Corbel" panose="020B0503020204020204" pitchFamily="34" charset="0"/>
              </a:rPr>
              <a:t> solution for emergency response </a:t>
            </a:r>
          </a:p>
          <a:p>
            <a:r>
              <a:rPr lang="en-IN" dirty="0">
                <a:latin typeface="Corbel" panose="020B0503020204020204" pitchFamily="34" charset="0"/>
              </a:rPr>
              <a:t>                                                           </a:t>
            </a:r>
          </a:p>
          <a:p>
            <a:r>
              <a:rPr lang="en-GB" dirty="0">
                <a:latin typeface="Corbel" panose="020B0503020204020204" pitchFamily="34" charset="0"/>
              </a:rPr>
              <a:t>                                              </a:t>
            </a:r>
          </a:p>
          <a:p>
            <a:r>
              <a:rPr lang="en-GB" dirty="0">
                <a:latin typeface="Corbel" panose="020B0503020204020204" pitchFamily="34" charset="0"/>
              </a:rPr>
              <a:t> </a:t>
            </a:r>
            <a:r>
              <a:rPr lang="en-IN" dirty="0">
                <a:latin typeface="Corbel" panose="020B0503020204020204" pitchFamily="34" charset="0"/>
              </a:rPr>
              <a:t>                                                      </a:t>
            </a:r>
          </a:p>
          <a:p>
            <a:endParaRPr lang="en-IN" dirty="0">
              <a:latin typeface="Corbel" panose="020B05030202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5B2B304-3978-45CB-AA13-EA30F9B09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018" y="2895600"/>
            <a:ext cx="7807469" cy="385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3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CF3F31-44D3-455C-A776-5953B9BD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305" y="243764"/>
            <a:ext cx="9905998" cy="1478570"/>
          </a:xfrm>
        </p:spPr>
        <p:txBody>
          <a:bodyPr>
            <a:normAutofit/>
          </a:bodyPr>
          <a:lstStyle/>
          <a:p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hmfa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memorial institute of engineering                                                                                                                                                                                                                                                                     and technology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handia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prayagraj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42DB66-A832-4887-817D-D7C7983C9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84" y="1722333"/>
            <a:ext cx="11467475" cy="5577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     </a:t>
            </a: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Affiliated by </a:t>
            </a:r>
          </a:p>
          <a:p>
            <a:pPr marL="0" indent="0">
              <a:buNone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IN" sz="4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</a:t>
            </a: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P J Abdul Kalam Technical University Lucknow</a:t>
            </a:r>
          </a:p>
          <a:p>
            <a:pPr marL="0" indent="0">
              <a:buNone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 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2025-2026</a:t>
            </a:r>
          </a:p>
          <a:p>
            <a:pPr marL="0" indent="0">
              <a:buNone/>
            </a:pPr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Department of Electronics &amp; comm. Engineering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ADD4CEE-5748-472A-9B1D-392CFFFC3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157" y="1722332"/>
            <a:ext cx="2911812" cy="174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3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77A894-8720-4E36-9F8C-91EA07EB8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144" y="956192"/>
            <a:ext cx="8534400" cy="1507067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submitted by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334CDF-510E-4223-919D-A42B427BB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4648486"/>
          </a:xfrm>
        </p:spPr>
        <p:txBody>
          <a:bodyPr/>
          <a:lstStyle/>
          <a:p>
            <a:r>
              <a:rPr lang="en-IN" dirty="0"/>
              <a:t> 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: Ram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Kishun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Name : Rupesh Kumar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Roll no : 2304110319025                                    Roll no : 2304110319026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: Shyam Kumar                                            Name :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Sumit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Gupta 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 no : 2304110319036                                     Roll no : 2304110319038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504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9249F8-C6F4-47F7-A836-1EE9C937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306783" y="105015"/>
            <a:ext cx="8534400" cy="1928958"/>
          </a:xfrm>
        </p:spPr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D09674A-FC56-438C-B1DB-2A2905662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462241"/>
            <a:ext cx="9905999" cy="3541714"/>
          </a:xfrm>
        </p:spPr>
        <p:txBody>
          <a:bodyPr>
            <a:normAutofit fontScale="92500"/>
          </a:bodyPr>
          <a:lstStyle/>
          <a:p>
            <a:r>
              <a:rPr lang="en-GB" dirty="0"/>
              <a:t>Fire  accidents are one of the most dangerous and unpredictable disaster that cause hug loss of life and property every year . In many case ,fire fighters risk their lives to extinguish fire in dangerous areas like chemical plants narrow lanes or buildings filled with smoke .</a:t>
            </a:r>
          </a:p>
          <a:p>
            <a:r>
              <a:rPr lang="en-GB" dirty="0"/>
              <a:t>To reduce human risk and increase efficiency, we have designed a </a:t>
            </a:r>
            <a:r>
              <a:rPr lang="en-GB" b="1" dirty="0"/>
              <a:t>BLUETOOTH AND AUTOMATIC CONTROLLED FIRE FIGHTER . </a:t>
            </a:r>
            <a:r>
              <a:rPr lang="en-GB" dirty="0"/>
              <a:t>This robot is a compact low cost solution that can  detect fire and extinguish it without human intervention.</a:t>
            </a:r>
          </a:p>
          <a:p>
            <a:pPr marL="0" indent="0">
              <a:buNone/>
            </a:pPr>
            <a:r>
              <a:rPr lang="en-GB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99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BFBDFE-5FED-4D59-990E-2E21AF04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591623"/>
            <a:ext cx="9905998" cy="1057883"/>
          </a:xfrm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ED37F7-C456-4403-8076-F6451FE61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34" y="1649506"/>
            <a:ext cx="11467475" cy="508107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main objectives of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desining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Bluetooth and automatic controlled fire fighter </a:t>
            </a:r>
          </a:p>
          <a:p>
            <a:pPr lvl="2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detect fire automatically 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use flame sensors for detecting the presence and direction of fire in real time without any human help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2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provide dual control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operate the robot in both manual mode using a Bluetooth mobile app  and automatic mode for autonomous fire extinguishing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2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ensure human safety 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reduce the risk to human fire fighters by sending the robot into dangerous or narrow areas where human cannot reach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easly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2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 develop a low cost solution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To build an affordable and effective fire fighting system using Arduino and basic electronic components for small –scale  fire emergencies.</a:t>
            </a:r>
          </a:p>
          <a:p>
            <a:pPr lvl="2"/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3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9E7F34-CB32-418C-96ED-D5ED5EF5B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954" y="53615"/>
            <a:ext cx="4345535" cy="607167"/>
          </a:xfrm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Block diagram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B4FB9F6A-375F-43EC-90F1-8CD55EC65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59566"/>
              </p:ext>
            </p:extLst>
          </p:nvPr>
        </p:nvGraphicFramePr>
        <p:xfrm>
          <a:off x="5303035" y="2379698"/>
          <a:ext cx="972766" cy="2008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766">
                  <a:extLst>
                    <a:ext uri="{9D8B030D-6E8A-4147-A177-3AD203B41FA5}">
                      <a16:colId xmlns:a16="http://schemas.microsoft.com/office/drawing/2014/main" xmlns="" val="4037859902"/>
                    </a:ext>
                  </a:extLst>
                </a:gridCol>
              </a:tblGrid>
              <a:tr h="2008945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r>
                        <a:rPr lang="en-IN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ARDIUNO</a:t>
                      </a:r>
                      <a:endParaRPr lang="en-IN" sz="14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IN" sz="14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UNO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4163107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CA8F20AC-7BB1-4AAA-95C2-8A4510F8131F}"/>
              </a:ext>
            </a:extLst>
          </p:cNvPr>
          <p:cNvSpPr/>
          <p:nvPr/>
        </p:nvSpPr>
        <p:spPr>
          <a:xfrm>
            <a:off x="2243809" y="3098915"/>
            <a:ext cx="1501338" cy="464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DC PUMP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C626F403-16CA-435E-92BE-98796B9D3D4E}"/>
              </a:ext>
            </a:extLst>
          </p:cNvPr>
          <p:cNvSpPr/>
          <p:nvPr/>
        </p:nvSpPr>
        <p:spPr>
          <a:xfrm>
            <a:off x="3244845" y="3917569"/>
            <a:ext cx="1465259" cy="464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Rely module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A5B665E6-06F2-4F5A-9516-CBEC27FE26D3}"/>
              </a:ext>
            </a:extLst>
          </p:cNvPr>
          <p:cNvSpPr/>
          <p:nvPr/>
        </p:nvSpPr>
        <p:spPr>
          <a:xfrm>
            <a:off x="7610322" y="2188105"/>
            <a:ext cx="1673158" cy="511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FLAME SENSOR</a:t>
            </a:r>
          </a:p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C1013193-76AA-471D-8CE4-1C4DBD8348DE}"/>
              </a:ext>
            </a:extLst>
          </p:cNvPr>
          <p:cNvSpPr/>
          <p:nvPr/>
        </p:nvSpPr>
        <p:spPr>
          <a:xfrm>
            <a:off x="7610322" y="2903756"/>
            <a:ext cx="1673158" cy="511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FLAME SENSOR</a:t>
            </a:r>
          </a:p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MIDDLE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17BAB332-2387-49C6-AEE8-9BB8825240B6}"/>
              </a:ext>
            </a:extLst>
          </p:cNvPr>
          <p:cNvSpPr/>
          <p:nvPr/>
        </p:nvSpPr>
        <p:spPr>
          <a:xfrm>
            <a:off x="7656041" y="3651216"/>
            <a:ext cx="1627439" cy="5116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FLAME SENSOR LEFT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ECF80084-6A67-4ED2-BCB1-C22E149D0F10}"/>
              </a:ext>
            </a:extLst>
          </p:cNvPr>
          <p:cNvSpPr/>
          <p:nvPr/>
        </p:nvSpPr>
        <p:spPr>
          <a:xfrm>
            <a:off x="5181954" y="5073109"/>
            <a:ext cx="2074911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Moter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 </a:t>
            </a:r>
          </a:p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L298N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D86CE1A5-E963-4A18-BCA9-A48F88EA068E}"/>
              </a:ext>
            </a:extLst>
          </p:cNvPr>
          <p:cNvSpPr/>
          <p:nvPr/>
        </p:nvSpPr>
        <p:spPr>
          <a:xfrm>
            <a:off x="8239328" y="6322979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226F35DE-5A58-44A0-99C2-02FCFA93922C}"/>
              </a:ext>
            </a:extLst>
          </p:cNvPr>
          <p:cNvSpPr/>
          <p:nvPr/>
        </p:nvSpPr>
        <p:spPr>
          <a:xfrm>
            <a:off x="8564695" y="6006265"/>
            <a:ext cx="690664" cy="7300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xmlns="" id="{128B68FC-F3BD-49DA-8C8D-1E188B3BC78B}"/>
              </a:ext>
            </a:extLst>
          </p:cNvPr>
          <p:cNvSpPr/>
          <p:nvPr/>
        </p:nvSpPr>
        <p:spPr>
          <a:xfrm>
            <a:off x="3419149" y="6092990"/>
            <a:ext cx="797030" cy="64938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E1058334-B97E-44CA-A63E-3483BA506159}"/>
              </a:ext>
            </a:extLst>
          </p:cNvPr>
          <p:cNvSpPr/>
          <p:nvPr/>
        </p:nvSpPr>
        <p:spPr>
          <a:xfrm>
            <a:off x="8540885" y="4688732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BBF1C973-547E-4B30-9C78-05D36BFF9134}"/>
              </a:ext>
            </a:extLst>
          </p:cNvPr>
          <p:cNvSpPr/>
          <p:nvPr/>
        </p:nvSpPr>
        <p:spPr>
          <a:xfrm>
            <a:off x="8446901" y="4425353"/>
            <a:ext cx="712975" cy="7500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ADC7C3DE-CD58-4507-BD89-A9F7F7351EBA}"/>
              </a:ext>
            </a:extLst>
          </p:cNvPr>
          <p:cNvSpPr/>
          <p:nvPr/>
        </p:nvSpPr>
        <p:spPr>
          <a:xfrm>
            <a:off x="3260889" y="4536156"/>
            <a:ext cx="778214" cy="6564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xmlns="" id="{27BA968C-C54D-4A9C-B5A1-32B5DD679E8C}"/>
              </a:ext>
            </a:extLst>
          </p:cNvPr>
          <p:cNvSpPr/>
          <p:nvPr/>
        </p:nvSpPr>
        <p:spPr>
          <a:xfrm>
            <a:off x="10052094" y="3820051"/>
            <a:ext cx="137889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 - p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rogram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6E39432-B124-4EC1-80FF-6D91C9AC69FE}"/>
              </a:ext>
            </a:extLst>
          </p:cNvPr>
          <p:cNvSpPr/>
          <p:nvPr/>
        </p:nvSpPr>
        <p:spPr>
          <a:xfrm>
            <a:off x="5619696" y="692478"/>
            <a:ext cx="1493162" cy="788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Bluetooth</a:t>
            </a:r>
          </a:p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HC- 05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5BD3ED1E-1060-4B69-B504-9288E95F6666}"/>
              </a:ext>
            </a:extLst>
          </p:cNvPr>
          <p:cNvSpPr/>
          <p:nvPr/>
        </p:nvSpPr>
        <p:spPr>
          <a:xfrm>
            <a:off x="2396891" y="2379698"/>
            <a:ext cx="1393975" cy="4460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SERVO MOTER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97303977-D5B6-41FE-BAF8-3E827FBB6420}"/>
              </a:ext>
            </a:extLst>
          </p:cNvPr>
          <p:cNvSpPr/>
          <p:nvPr/>
        </p:nvSpPr>
        <p:spPr>
          <a:xfrm>
            <a:off x="2426829" y="1460019"/>
            <a:ext cx="1203294" cy="4649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xmlns="" id="{DC4EE9F6-1C81-4F66-9EE5-28BA2429C77B}"/>
              </a:ext>
            </a:extLst>
          </p:cNvPr>
          <p:cNvCxnSpPr>
            <a:cxnSpLocks/>
          </p:cNvCxnSpPr>
          <p:nvPr/>
        </p:nvCxnSpPr>
        <p:spPr>
          <a:xfrm flipH="1" flipV="1">
            <a:off x="5447489" y="1925002"/>
            <a:ext cx="1" cy="351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xmlns="" id="{AFD2F826-E6E0-4E68-BF62-CBD20CD85DA2}"/>
              </a:ext>
            </a:extLst>
          </p:cNvPr>
          <p:cNvCxnSpPr>
            <a:cxnSpLocks/>
          </p:cNvCxnSpPr>
          <p:nvPr/>
        </p:nvCxnSpPr>
        <p:spPr>
          <a:xfrm>
            <a:off x="3603303" y="1682680"/>
            <a:ext cx="18375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xmlns="" id="{A437B649-24F4-4D3D-BF42-4F6366B61495}"/>
              </a:ext>
            </a:extLst>
          </p:cNvPr>
          <p:cNvCxnSpPr>
            <a:cxnSpLocks/>
          </p:cNvCxnSpPr>
          <p:nvPr/>
        </p:nvCxnSpPr>
        <p:spPr>
          <a:xfrm flipH="1">
            <a:off x="5552414" y="1680013"/>
            <a:ext cx="11539" cy="688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xmlns="" id="{16248027-1269-4196-9C84-56D32E338C7D}"/>
              </a:ext>
            </a:extLst>
          </p:cNvPr>
          <p:cNvCxnSpPr>
            <a:cxnSpLocks/>
          </p:cNvCxnSpPr>
          <p:nvPr/>
        </p:nvCxnSpPr>
        <p:spPr>
          <a:xfrm flipV="1">
            <a:off x="5184741" y="1682680"/>
            <a:ext cx="40720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xmlns="" id="{0CA4F1F5-A814-463C-80ED-98D3C83DD83E}"/>
              </a:ext>
            </a:extLst>
          </p:cNvPr>
          <p:cNvCxnSpPr>
            <a:cxnSpLocks/>
          </p:cNvCxnSpPr>
          <p:nvPr/>
        </p:nvCxnSpPr>
        <p:spPr>
          <a:xfrm>
            <a:off x="5937410" y="1444709"/>
            <a:ext cx="1" cy="934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xmlns="" id="{BC1BDF8F-A0AE-4592-A3E3-9C4130EF907A}"/>
              </a:ext>
            </a:extLst>
          </p:cNvPr>
          <p:cNvCxnSpPr>
            <a:cxnSpLocks/>
          </p:cNvCxnSpPr>
          <p:nvPr/>
        </p:nvCxnSpPr>
        <p:spPr>
          <a:xfrm>
            <a:off x="3837776" y="2672809"/>
            <a:ext cx="1465259" cy="1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xmlns="" id="{A3EDC921-3733-446E-8AA5-89C83B2A3DFF}"/>
              </a:ext>
            </a:extLst>
          </p:cNvPr>
          <p:cNvCxnSpPr>
            <a:cxnSpLocks/>
          </p:cNvCxnSpPr>
          <p:nvPr/>
        </p:nvCxnSpPr>
        <p:spPr>
          <a:xfrm flipH="1">
            <a:off x="4713455" y="4124545"/>
            <a:ext cx="5828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xmlns="" id="{EE450C9A-2867-49EB-94E5-5B919D59FDB0}"/>
              </a:ext>
            </a:extLst>
          </p:cNvPr>
          <p:cNvCxnSpPr>
            <a:cxnSpLocks/>
          </p:cNvCxnSpPr>
          <p:nvPr/>
        </p:nvCxnSpPr>
        <p:spPr>
          <a:xfrm>
            <a:off x="4299387" y="3331406"/>
            <a:ext cx="0" cy="598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xmlns="" id="{1647FC21-8132-44C6-86AF-07BC259C0736}"/>
              </a:ext>
            </a:extLst>
          </p:cNvPr>
          <p:cNvCxnSpPr>
            <a:cxnSpLocks/>
          </p:cNvCxnSpPr>
          <p:nvPr/>
        </p:nvCxnSpPr>
        <p:spPr>
          <a:xfrm flipH="1">
            <a:off x="6290394" y="2746304"/>
            <a:ext cx="5783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xmlns="" id="{9A552BC7-9FE2-4C09-925A-515AB8AB1434}"/>
              </a:ext>
            </a:extLst>
          </p:cNvPr>
          <p:cNvCxnSpPr>
            <a:cxnSpLocks/>
          </p:cNvCxnSpPr>
          <p:nvPr/>
        </p:nvCxnSpPr>
        <p:spPr>
          <a:xfrm flipV="1">
            <a:off x="6868732" y="2430324"/>
            <a:ext cx="0" cy="3159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xmlns="" id="{64DECDF8-AA98-4C11-8593-1CC5D8739473}"/>
              </a:ext>
            </a:extLst>
          </p:cNvPr>
          <p:cNvCxnSpPr>
            <a:cxnSpLocks/>
          </p:cNvCxnSpPr>
          <p:nvPr/>
        </p:nvCxnSpPr>
        <p:spPr>
          <a:xfrm>
            <a:off x="6868732" y="2392080"/>
            <a:ext cx="763813" cy="11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xmlns="" id="{7F3F67F6-1340-4BE0-BC8C-C1EDDF5377ED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6275801" y="3159594"/>
            <a:ext cx="13345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xmlns="" id="{A39A8E8E-0CA8-42FA-B80A-612A6828269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282503" y="3907054"/>
            <a:ext cx="13735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xmlns="" id="{DDEF39FD-86C7-4B38-982D-4B0A2923562F}"/>
              </a:ext>
            </a:extLst>
          </p:cNvPr>
          <p:cNvCxnSpPr>
            <a:cxnSpLocks/>
          </p:cNvCxnSpPr>
          <p:nvPr/>
        </p:nvCxnSpPr>
        <p:spPr>
          <a:xfrm flipV="1">
            <a:off x="6267992" y="4305459"/>
            <a:ext cx="3784102" cy="24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xmlns="" id="{1F127F72-4F76-4982-B92F-967B28C82D80}"/>
              </a:ext>
            </a:extLst>
          </p:cNvPr>
          <p:cNvCxnSpPr>
            <a:cxnSpLocks/>
          </p:cNvCxnSpPr>
          <p:nvPr/>
        </p:nvCxnSpPr>
        <p:spPr>
          <a:xfrm>
            <a:off x="5619696" y="4757414"/>
            <a:ext cx="0" cy="3261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xmlns="" id="{56C81847-973F-40D1-AAD6-0FD2584777F9}"/>
              </a:ext>
            </a:extLst>
          </p:cNvPr>
          <p:cNvCxnSpPr>
            <a:cxnSpLocks/>
          </p:cNvCxnSpPr>
          <p:nvPr/>
        </p:nvCxnSpPr>
        <p:spPr>
          <a:xfrm>
            <a:off x="6633106" y="4757414"/>
            <a:ext cx="0" cy="3261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xmlns="" id="{DD8D207E-08B3-4983-9097-20296E826FC5}"/>
              </a:ext>
            </a:extLst>
          </p:cNvPr>
          <p:cNvCxnSpPr>
            <a:cxnSpLocks/>
          </p:cNvCxnSpPr>
          <p:nvPr/>
        </p:nvCxnSpPr>
        <p:spPr>
          <a:xfrm>
            <a:off x="5591944" y="5987509"/>
            <a:ext cx="0" cy="3811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xmlns="" id="{135929F0-7983-4F87-BDA8-42977426C9D9}"/>
              </a:ext>
            </a:extLst>
          </p:cNvPr>
          <p:cNvCxnSpPr>
            <a:cxnSpLocks/>
          </p:cNvCxnSpPr>
          <p:nvPr/>
        </p:nvCxnSpPr>
        <p:spPr>
          <a:xfrm flipH="1">
            <a:off x="6633106" y="5987509"/>
            <a:ext cx="1" cy="3354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xmlns="" id="{0BF920E4-A0CA-413A-B1FD-E0240F18898F}"/>
              </a:ext>
            </a:extLst>
          </p:cNvPr>
          <p:cNvCxnSpPr>
            <a:cxnSpLocks/>
          </p:cNvCxnSpPr>
          <p:nvPr/>
        </p:nvCxnSpPr>
        <p:spPr>
          <a:xfrm flipH="1">
            <a:off x="4034303" y="4773950"/>
            <a:ext cx="15853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xmlns="" id="{42F40566-AB1E-4E2F-AA56-0F7FD4637F43}"/>
              </a:ext>
            </a:extLst>
          </p:cNvPr>
          <p:cNvCxnSpPr>
            <a:cxnSpLocks/>
          </p:cNvCxnSpPr>
          <p:nvPr/>
        </p:nvCxnSpPr>
        <p:spPr>
          <a:xfrm>
            <a:off x="6626812" y="4753791"/>
            <a:ext cx="1758733" cy="1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xmlns="" id="{5038F60D-56DC-4784-8EE3-6449D9811CA3}"/>
              </a:ext>
            </a:extLst>
          </p:cNvPr>
          <p:cNvCxnSpPr>
            <a:cxnSpLocks/>
          </p:cNvCxnSpPr>
          <p:nvPr/>
        </p:nvCxnSpPr>
        <p:spPr>
          <a:xfrm flipH="1">
            <a:off x="4212077" y="6389521"/>
            <a:ext cx="1436020" cy="21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xmlns="" id="{0AECDFD8-5E16-4C6C-BD09-95F706DF4933}"/>
              </a:ext>
            </a:extLst>
          </p:cNvPr>
          <p:cNvCxnSpPr>
            <a:cxnSpLocks/>
          </p:cNvCxnSpPr>
          <p:nvPr/>
        </p:nvCxnSpPr>
        <p:spPr>
          <a:xfrm flipV="1">
            <a:off x="6626812" y="6337569"/>
            <a:ext cx="1902996" cy="165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xmlns="" id="{7A637F95-D550-43A0-AE12-BB8BAE23E3D4}"/>
              </a:ext>
            </a:extLst>
          </p:cNvPr>
          <p:cNvCxnSpPr>
            <a:cxnSpLocks/>
          </p:cNvCxnSpPr>
          <p:nvPr/>
        </p:nvCxnSpPr>
        <p:spPr>
          <a:xfrm>
            <a:off x="1770434" y="1706024"/>
            <a:ext cx="0" cy="39165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xmlns="" id="{D6EF5D04-4366-474F-BF6E-5E4A2290B289}"/>
              </a:ext>
            </a:extLst>
          </p:cNvPr>
          <p:cNvCxnSpPr>
            <a:cxnSpLocks/>
          </p:cNvCxnSpPr>
          <p:nvPr/>
        </p:nvCxnSpPr>
        <p:spPr>
          <a:xfrm>
            <a:off x="1770434" y="5613959"/>
            <a:ext cx="3411520" cy="37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xmlns="" id="{EEF86226-594F-458D-8860-B850427686D4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1751873" y="1691133"/>
            <a:ext cx="674956" cy="13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xmlns="" id="{2B784B90-EC2D-4BCC-B3F7-02638321953E}"/>
              </a:ext>
            </a:extLst>
          </p:cNvPr>
          <p:cNvCxnSpPr>
            <a:cxnSpLocks/>
          </p:cNvCxnSpPr>
          <p:nvPr/>
        </p:nvCxnSpPr>
        <p:spPr>
          <a:xfrm flipH="1">
            <a:off x="3751260" y="3331406"/>
            <a:ext cx="56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05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0884DB-1154-4156-BA10-2E841D9D3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229" y="126460"/>
            <a:ext cx="4160162" cy="817123"/>
          </a:xfrm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 LIST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50B09797-9856-47B1-9159-9BE19D8D75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003611"/>
              </p:ext>
            </p:extLst>
          </p:nvPr>
        </p:nvGraphicFramePr>
        <p:xfrm>
          <a:off x="2743200" y="1224397"/>
          <a:ext cx="6488349" cy="41763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1481">
                  <a:extLst>
                    <a:ext uri="{9D8B030D-6E8A-4147-A177-3AD203B41FA5}">
                      <a16:colId xmlns:a16="http://schemas.microsoft.com/office/drawing/2014/main" xmlns="" val="2648392125"/>
                    </a:ext>
                  </a:extLst>
                </a:gridCol>
                <a:gridCol w="2607013">
                  <a:extLst>
                    <a:ext uri="{9D8B030D-6E8A-4147-A177-3AD203B41FA5}">
                      <a16:colId xmlns:a16="http://schemas.microsoft.com/office/drawing/2014/main" xmlns="" val="2619510058"/>
                    </a:ext>
                  </a:extLst>
                </a:gridCol>
                <a:gridCol w="3219855">
                  <a:extLst>
                    <a:ext uri="{9D8B030D-6E8A-4147-A177-3AD203B41FA5}">
                      <a16:colId xmlns:a16="http://schemas.microsoft.com/office/drawing/2014/main" xmlns="" val="1096602454"/>
                    </a:ext>
                  </a:extLst>
                </a:gridCol>
              </a:tblGrid>
              <a:tr h="525712">
                <a:tc>
                  <a:txBody>
                    <a:bodyPr/>
                    <a:lstStyle/>
                    <a:p>
                      <a:r>
                        <a:rPr lang="en-GB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Sr no.</a:t>
                      </a:r>
                      <a:endParaRPr lang="en-IN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   Component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     Specification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03749215"/>
                  </a:ext>
                </a:extLst>
              </a:tr>
              <a:tr h="4870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Arduino </a:t>
                      </a:r>
                      <a:r>
                        <a:rPr lang="en-GB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uno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A Tmega328P microcontroller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85625700"/>
                  </a:ext>
                </a:extLst>
              </a:tr>
              <a:tr h="4870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Bluetooth </a:t>
                      </a:r>
                      <a:r>
                        <a:rPr lang="en-GB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modul</a:t>
                      </a:r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</a:t>
                      </a:r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TP4056 O/P 12V, 4A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32127760"/>
                  </a:ext>
                </a:extLst>
              </a:tr>
              <a:tr h="552019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 </a:t>
                      </a:r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 MOTER 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         </a:t>
                      </a:r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12V 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57895744"/>
                  </a:ext>
                </a:extLst>
              </a:tr>
              <a:tr h="4870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          Buzzer </a:t>
                      </a:r>
                      <a:endParaRPr lang="en-IN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           8850 ,5V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34327500"/>
                  </a:ext>
                </a:extLst>
              </a:tr>
              <a:tr h="549046"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 </a:t>
                      </a:r>
                      <a:r>
                        <a:rPr lang="en-GB" sz="1400" dirty="0"/>
                        <a:t>Flame sensor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       Infrared </a:t>
                      </a:r>
                      <a:r>
                        <a:rPr lang="en-GB" sz="1400" dirty="0" err="1"/>
                        <a:t>analog</a:t>
                      </a:r>
                      <a:r>
                        <a:rPr lang="en-GB" sz="1400" dirty="0"/>
                        <a:t> 60 deg</a:t>
                      </a:r>
                      <a:r>
                        <a:rPr lang="en-GB" dirty="0"/>
                        <a:t>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74966981"/>
                  </a:ext>
                </a:extLst>
              </a:tr>
              <a:tr h="487033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         </a:t>
                      </a:r>
                      <a:r>
                        <a:rPr lang="en-GB" sz="1400" dirty="0" err="1"/>
                        <a:t>Moter</a:t>
                      </a:r>
                      <a:r>
                        <a:rPr lang="en-GB" sz="1400" dirty="0"/>
                        <a:t> driver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        L298N H- Bridge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05984401"/>
                  </a:ext>
                </a:extLst>
              </a:tr>
              <a:tr h="487033"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          Lithium battery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          3.7 V 2000mAh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4794045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F963B0C0-35CB-4FD0-BFDA-E4DE9A8BA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10092"/>
              </p:ext>
            </p:extLst>
          </p:nvPr>
        </p:nvGraphicFramePr>
        <p:xfrm>
          <a:off x="2752928" y="5400707"/>
          <a:ext cx="6439710" cy="79161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22570">
                  <a:extLst>
                    <a:ext uri="{9D8B030D-6E8A-4147-A177-3AD203B41FA5}">
                      <a16:colId xmlns:a16="http://schemas.microsoft.com/office/drawing/2014/main" xmlns="" val="19184819"/>
                    </a:ext>
                  </a:extLst>
                </a:gridCol>
                <a:gridCol w="2616740">
                  <a:extLst>
                    <a:ext uri="{9D8B030D-6E8A-4147-A177-3AD203B41FA5}">
                      <a16:colId xmlns:a16="http://schemas.microsoft.com/office/drawing/2014/main" xmlns="" val="17867318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xmlns="" val="970560598"/>
                    </a:ext>
                  </a:extLst>
                </a:gridCol>
              </a:tblGrid>
              <a:tr h="340165"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Water pump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   5v  ,1A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36189812"/>
                  </a:ext>
                </a:extLst>
              </a:tr>
              <a:tr h="425858"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Water tank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         1 </a:t>
                      </a:r>
                      <a:r>
                        <a:rPr lang="en-GB" dirty="0" err="1"/>
                        <a:t>liter</a:t>
                      </a:r>
                      <a:r>
                        <a:rPr lang="en-GB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1767300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39F2AC3B-916F-4C75-A368-9C3C21BC12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967807"/>
              </p:ext>
            </p:extLst>
          </p:nvPr>
        </p:nvGraphicFramePr>
        <p:xfrm>
          <a:off x="2752928" y="6204787"/>
          <a:ext cx="6410528" cy="365760"/>
        </p:xfrm>
        <a:graphic>
          <a:graphicData uri="http://schemas.openxmlformats.org/drawingml/2006/table">
            <a:tbl>
              <a:tblPr/>
              <a:tblGrid>
                <a:gridCol w="6410528">
                  <a:extLst>
                    <a:ext uri="{9D8B030D-6E8A-4147-A177-3AD203B41FA5}">
                      <a16:colId xmlns:a16="http://schemas.microsoft.com/office/drawing/2014/main" xmlns="" val="1242463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10             PCB                                            ----</a:t>
                      </a:r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06649577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C623213B-1C99-4AFF-B68A-E18C2BE0675F}"/>
              </a:ext>
            </a:extLst>
          </p:cNvPr>
          <p:cNvCxnSpPr>
            <a:cxnSpLocks/>
          </p:cNvCxnSpPr>
          <p:nvPr/>
        </p:nvCxnSpPr>
        <p:spPr>
          <a:xfrm>
            <a:off x="3356043" y="6216000"/>
            <a:ext cx="0" cy="330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69ECB043-F5EB-4D7F-AFB3-54E9B97A906B}"/>
              </a:ext>
            </a:extLst>
          </p:cNvPr>
          <p:cNvCxnSpPr>
            <a:cxnSpLocks/>
          </p:cNvCxnSpPr>
          <p:nvPr/>
        </p:nvCxnSpPr>
        <p:spPr>
          <a:xfrm>
            <a:off x="5972783" y="6216000"/>
            <a:ext cx="0" cy="365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87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5275FD-5657-4EC0-8B33-6F8099ED9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3664051" cy="817123"/>
          </a:xfrm>
        </p:spPr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CIRCUIT DIAGRAM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355B0C-9AA3-441B-9312-BD36B85B1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589" y="564682"/>
            <a:ext cx="9905999" cy="5982511"/>
          </a:xfrm>
        </p:spPr>
        <p:txBody>
          <a:bodyPr/>
          <a:lstStyle/>
          <a:p>
            <a:r>
              <a:rPr lang="en-GB" dirty="0"/>
              <a:t>                 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42C09FC-7107-44B9-AC0E-6862D8B88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370" y="1060315"/>
            <a:ext cx="8214610" cy="561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13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655550-1CAF-430E-907B-91A60A65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5609584" cy="982494"/>
          </a:xfrm>
        </p:spPr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WORKING OF FIRE FIGHTER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95EBA9-C80C-4932-842D-67A2832BD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98060"/>
            <a:ext cx="9905999" cy="6352161"/>
          </a:xfrm>
        </p:spPr>
        <p:txBody>
          <a:bodyPr>
            <a:normAutofit/>
          </a:bodyPr>
          <a:lstStyle/>
          <a:p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Robot work in two mode , manual mode and automatic mode.</a:t>
            </a:r>
          </a:p>
          <a:p>
            <a:r>
              <a:rPr lang="en-GB" sz="1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Mode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connect smart phone to robot via HC-05 Bluetooth module . Through a mobile app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commond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like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   ,backword  ,left ,right  pump  ON/OFF are sent .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L298N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Moter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Driver  receives signals from Arduino and controls the DC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moters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movement .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 manually direct the robot towards fire and activates the water pump to extinguish it .</a:t>
            </a:r>
          </a:p>
          <a:p>
            <a:r>
              <a:rPr lang="en-GB" sz="1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Automatic mode :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flame sensors continuously monitor for fire in Left Right ,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amd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front direction .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 fire is  detected ,sensors send signal to Arduino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uno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.Arduino process es the direction and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movew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robot towards the fire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Using L298N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Moter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Driver , servo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moter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rotates the water nozzle towards the exact fire location .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Relay module switches ON the water pump and water sprayed .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Buzzer starts beeping to alert  people nearby once fire is extinguished ,all systems stop automatically .</a:t>
            </a:r>
          </a:p>
        </p:txBody>
      </p:sp>
    </p:spTree>
    <p:extLst>
      <p:ext uri="{BB962C8B-B14F-4D97-AF65-F5344CB8AC3E}">
        <p14:creationId xmlns:p14="http://schemas.microsoft.com/office/powerpoint/2010/main" val="1637569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CC5ECF-D607-46BA-B0CA-6829FA1D8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840" y="-180096"/>
            <a:ext cx="3914585" cy="996274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CHART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4099F4-D9F7-4048-8459-84E429DB4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136" y="999562"/>
            <a:ext cx="10004863" cy="5858438"/>
          </a:xfrm>
        </p:spPr>
        <p:txBody>
          <a:bodyPr>
            <a:normAutofit fontScale="25000" lnSpcReduction="20000"/>
          </a:bodyPr>
          <a:lstStyle/>
          <a:p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YES                                  YES</a:t>
            </a:r>
          </a:p>
          <a:p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NO </a:t>
            </a:r>
          </a:p>
          <a:p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</a:t>
            </a:r>
          </a:p>
          <a:p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YES</a:t>
            </a:r>
          </a:p>
          <a:p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</a:t>
            </a:r>
          </a:p>
          <a:p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NO</a:t>
            </a:r>
          </a:p>
          <a:p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YES</a:t>
            </a:r>
          </a:p>
          <a:p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                             NO</a:t>
            </a:r>
          </a:p>
          <a:p>
            <a:pPr marL="0" indent="0">
              <a:buNone/>
            </a:pPr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YES</a:t>
            </a:r>
          </a:p>
          <a:p>
            <a:pPr marL="0" indent="0">
              <a:buNone/>
            </a:pPr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</a:t>
            </a:r>
          </a:p>
          <a:p>
            <a:pPr marL="0" indent="0">
              <a:buNone/>
            </a:pPr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YES</a:t>
            </a:r>
          </a:p>
          <a:p>
            <a:endParaRPr lang="en-GB" sz="5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                                                       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xmlns="" id="{D4BBE5FD-47DA-4E0D-8D49-9D373820C467}"/>
              </a:ext>
            </a:extLst>
          </p:cNvPr>
          <p:cNvSpPr/>
          <p:nvPr/>
        </p:nvSpPr>
        <p:spPr>
          <a:xfrm>
            <a:off x="5663510" y="71037"/>
            <a:ext cx="1843355" cy="61264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SENSOR 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xmlns="" id="{E29C201D-7570-4AD1-A668-4F2D3DC35DD8}"/>
              </a:ext>
            </a:extLst>
          </p:cNvPr>
          <p:cNvSpPr/>
          <p:nvPr/>
        </p:nvSpPr>
        <p:spPr>
          <a:xfrm>
            <a:off x="5625035" y="863254"/>
            <a:ext cx="1843360" cy="77821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 DETECTED</a:t>
            </a:r>
          </a:p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INFRONT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xmlns="" id="{62721921-8F5B-494B-89D4-E039C8236141}"/>
              </a:ext>
            </a:extLst>
          </p:cNvPr>
          <p:cNvSpPr/>
          <p:nvPr/>
        </p:nvSpPr>
        <p:spPr>
          <a:xfrm>
            <a:off x="5616151" y="1871894"/>
            <a:ext cx="1843360" cy="778214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 DETECTED RIGHT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xmlns="" id="{7F4CC491-229A-4D6E-B461-5A91FBF00488}"/>
              </a:ext>
            </a:extLst>
          </p:cNvPr>
          <p:cNvSpPr/>
          <p:nvPr/>
        </p:nvSpPr>
        <p:spPr>
          <a:xfrm>
            <a:off x="5418185" y="3012367"/>
            <a:ext cx="2140085" cy="669095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 TO RIGHT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xmlns="" id="{B7C4E34C-FF69-4DF5-9550-EA6F5A9F789F}"/>
              </a:ext>
            </a:extLst>
          </p:cNvPr>
          <p:cNvSpPr/>
          <p:nvPr/>
        </p:nvSpPr>
        <p:spPr>
          <a:xfrm>
            <a:off x="8100687" y="3012925"/>
            <a:ext cx="1800462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 TO LEFT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xmlns="" id="{A9CD967F-6D07-49F5-957A-2832870F082A}"/>
              </a:ext>
            </a:extLst>
          </p:cNvPr>
          <p:cNvSpPr/>
          <p:nvPr/>
        </p:nvSpPr>
        <p:spPr>
          <a:xfrm>
            <a:off x="5564953" y="3887117"/>
            <a:ext cx="1903442" cy="61264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FIRE DETECTED FRONT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xmlns="" id="{EF6CB7E4-3F8C-48F6-B3E7-EA14CE398050}"/>
              </a:ext>
            </a:extLst>
          </p:cNvPr>
          <p:cNvSpPr/>
          <p:nvPr/>
        </p:nvSpPr>
        <p:spPr>
          <a:xfrm>
            <a:off x="5595121" y="4682922"/>
            <a:ext cx="2068749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FORWARD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xmlns="" id="{61C8272F-B59E-4BEE-9D60-D240060CE91E}"/>
              </a:ext>
            </a:extLst>
          </p:cNvPr>
          <p:cNvSpPr/>
          <p:nvPr/>
        </p:nvSpPr>
        <p:spPr>
          <a:xfrm>
            <a:off x="5418185" y="5466700"/>
            <a:ext cx="2205280" cy="57440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REACH SPRAYING DISTANCE</a:t>
            </a:r>
            <a:endParaRPr lang="en-IN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xmlns="" id="{C78A7843-D0BB-4909-A7EA-61EE72CCBCBC}"/>
              </a:ext>
            </a:extLst>
          </p:cNvPr>
          <p:cNvSpPr/>
          <p:nvPr/>
        </p:nvSpPr>
        <p:spPr>
          <a:xfrm>
            <a:off x="6478621" y="6456062"/>
            <a:ext cx="68094" cy="4571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xmlns="" id="{F4F36F38-DF06-4E6C-97CC-951A07F996C3}"/>
              </a:ext>
            </a:extLst>
          </p:cNvPr>
          <p:cNvSpPr/>
          <p:nvPr/>
        </p:nvSpPr>
        <p:spPr>
          <a:xfrm>
            <a:off x="5595121" y="6205870"/>
            <a:ext cx="1911744" cy="612648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 SPRAY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6CD4F6AB-19BE-4F5F-8598-FBB11E2BC292}"/>
              </a:ext>
            </a:extLst>
          </p:cNvPr>
          <p:cNvCxnSpPr>
            <a:cxnSpLocks/>
          </p:cNvCxnSpPr>
          <p:nvPr/>
        </p:nvCxnSpPr>
        <p:spPr>
          <a:xfrm>
            <a:off x="6546714" y="699772"/>
            <a:ext cx="1" cy="141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xmlns="" id="{AF404DFB-F4ED-4A01-B9F8-98728F399E55}"/>
              </a:ext>
            </a:extLst>
          </p:cNvPr>
          <p:cNvCxnSpPr>
            <a:cxnSpLocks/>
          </p:cNvCxnSpPr>
          <p:nvPr/>
        </p:nvCxnSpPr>
        <p:spPr>
          <a:xfrm>
            <a:off x="6517531" y="1641467"/>
            <a:ext cx="0" cy="233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xmlns="" id="{4B93F1A3-A7F9-49DE-A074-88FD6197F626}"/>
              </a:ext>
            </a:extLst>
          </p:cNvPr>
          <p:cNvCxnSpPr>
            <a:cxnSpLocks/>
          </p:cNvCxnSpPr>
          <p:nvPr/>
        </p:nvCxnSpPr>
        <p:spPr>
          <a:xfrm>
            <a:off x="6520825" y="2720395"/>
            <a:ext cx="0" cy="255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xmlns="" id="{9CC6F0B8-7019-4167-B56F-A21063FC926F}"/>
              </a:ext>
            </a:extLst>
          </p:cNvPr>
          <p:cNvCxnSpPr>
            <a:cxnSpLocks/>
          </p:cNvCxnSpPr>
          <p:nvPr/>
        </p:nvCxnSpPr>
        <p:spPr>
          <a:xfrm>
            <a:off x="6478621" y="3593858"/>
            <a:ext cx="0" cy="272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xmlns="" id="{5ED28D96-00D5-4364-8200-EAC2C274392A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512668" y="4499765"/>
            <a:ext cx="4006" cy="150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xmlns="" id="{F93EC0FD-15B0-4906-811A-F4D998D3CA62}"/>
              </a:ext>
            </a:extLst>
          </p:cNvPr>
          <p:cNvCxnSpPr>
            <a:cxnSpLocks/>
          </p:cNvCxnSpPr>
          <p:nvPr/>
        </p:nvCxnSpPr>
        <p:spPr>
          <a:xfrm>
            <a:off x="6522792" y="5295570"/>
            <a:ext cx="0" cy="232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xmlns="" id="{A13D4BEF-A3CE-4A94-A2D9-25E8A4EA199F}"/>
              </a:ext>
            </a:extLst>
          </p:cNvPr>
          <p:cNvCxnSpPr>
            <a:cxnSpLocks/>
          </p:cNvCxnSpPr>
          <p:nvPr/>
        </p:nvCxnSpPr>
        <p:spPr>
          <a:xfrm>
            <a:off x="6512668" y="6041109"/>
            <a:ext cx="8157" cy="159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xmlns="" id="{C519EF1F-20BA-4583-8CC9-1E21A538425A}"/>
              </a:ext>
            </a:extLst>
          </p:cNvPr>
          <p:cNvCxnSpPr>
            <a:cxnSpLocks/>
          </p:cNvCxnSpPr>
          <p:nvPr/>
        </p:nvCxnSpPr>
        <p:spPr>
          <a:xfrm>
            <a:off x="8915822" y="3593858"/>
            <a:ext cx="0" cy="1362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xmlns="" id="{1B8B7557-3AF4-4681-AA45-4B11B3428A2A}"/>
              </a:ext>
            </a:extLst>
          </p:cNvPr>
          <p:cNvCxnSpPr>
            <a:cxnSpLocks/>
          </p:cNvCxnSpPr>
          <p:nvPr/>
        </p:nvCxnSpPr>
        <p:spPr>
          <a:xfrm flipH="1">
            <a:off x="6478621" y="3757364"/>
            <a:ext cx="24372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xmlns="" id="{C962EBE3-CF41-47C2-A60B-2F7712AB00D3}"/>
              </a:ext>
            </a:extLst>
          </p:cNvPr>
          <p:cNvCxnSpPr>
            <a:cxnSpLocks/>
          </p:cNvCxnSpPr>
          <p:nvPr/>
        </p:nvCxnSpPr>
        <p:spPr>
          <a:xfrm>
            <a:off x="7468395" y="2260262"/>
            <a:ext cx="14474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xmlns="" id="{FAF15625-DEE3-4E86-864F-195945FCD8FB}"/>
              </a:ext>
            </a:extLst>
          </p:cNvPr>
          <p:cNvCxnSpPr>
            <a:cxnSpLocks/>
          </p:cNvCxnSpPr>
          <p:nvPr/>
        </p:nvCxnSpPr>
        <p:spPr>
          <a:xfrm>
            <a:off x="8915822" y="2260262"/>
            <a:ext cx="0" cy="758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xmlns="" id="{8F94AD82-3F50-4F3E-93B2-31E9BAE4D266}"/>
              </a:ext>
            </a:extLst>
          </p:cNvPr>
          <p:cNvCxnSpPr>
            <a:cxnSpLocks/>
          </p:cNvCxnSpPr>
          <p:nvPr/>
        </p:nvCxnSpPr>
        <p:spPr>
          <a:xfrm>
            <a:off x="8346332" y="4499765"/>
            <a:ext cx="0" cy="12846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xmlns="" id="{D9931B35-F055-4857-AE20-A107B6EE3BD5}"/>
              </a:ext>
            </a:extLst>
          </p:cNvPr>
          <p:cNvCxnSpPr>
            <a:cxnSpLocks/>
          </p:cNvCxnSpPr>
          <p:nvPr/>
        </p:nvCxnSpPr>
        <p:spPr>
          <a:xfrm flipH="1">
            <a:off x="7366766" y="5749955"/>
            <a:ext cx="979566" cy="212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xmlns="" id="{3CBB6C63-8E50-4D56-90F3-ACB5EB5C0F61}"/>
              </a:ext>
            </a:extLst>
          </p:cNvPr>
          <p:cNvCxnSpPr>
            <a:cxnSpLocks/>
          </p:cNvCxnSpPr>
          <p:nvPr/>
        </p:nvCxnSpPr>
        <p:spPr>
          <a:xfrm flipH="1">
            <a:off x="6585188" y="4494179"/>
            <a:ext cx="1770872" cy="17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xmlns="" id="{AF2A688D-DACE-45BA-8318-28C70465D97F}"/>
              </a:ext>
            </a:extLst>
          </p:cNvPr>
          <p:cNvCxnSpPr>
            <a:cxnSpLocks/>
          </p:cNvCxnSpPr>
          <p:nvPr/>
        </p:nvCxnSpPr>
        <p:spPr>
          <a:xfrm>
            <a:off x="3677056" y="1252360"/>
            <a:ext cx="0" cy="37368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xmlns="" id="{DB1717DA-0AE1-4E92-A9AF-F9933029C1A7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677056" y="1252360"/>
            <a:ext cx="1947979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xmlns="" id="{E5AE97E7-81B8-4655-8556-7F2B83245D83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759838" y="4989246"/>
            <a:ext cx="1835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xmlns="" id="{5FE04A50-0885-4866-84E0-D50673E3AD5B}"/>
              </a:ext>
            </a:extLst>
          </p:cNvPr>
          <p:cNvCxnSpPr>
            <a:cxnSpLocks/>
          </p:cNvCxnSpPr>
          <p:nvPr/>
        </p:nvCxnSpPr>
        <p:spPr>
          <a:xfrm>
            <a:off x="4469067" y="1758199"/>
            <a:ext cx="0" cy="24352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xmlns="" id="{2160DBAE-FCED-4104-8221-074AC93FF358}"/>
              </a:ext>
            </a:extLst>
          </p:cNvPr>
          <p:cNvCxnSpPr/>
          <p:nvPr/>
        </p:nvCxnSpPr>
        <p:spPr>
          <a:xfrm>
            <a:off x="4951379" y="419344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xmlns="" id="{6EA57059-1F0B-47D3-B26B-22E352397388}"/>
              </a:ext>
            </a:extLst>
          </p:cNvPr>
          <p:cNvCxnSpPr>
            <a:cxnSpLocks/>
          </p:cNvCxnSpPr>
          <p:nvPr/>
        </p:nvCxnSpPr>
        <p:spPr>
          <a:xfrm>
            <a:off x="4469067" y="4179767"/>
            <a:ext cx="1212717" cy="207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xmlns="" id="{DD4BB834-6072-4CBC-85C7-72C8FEDDFB9E}"/>
              </a:ext>
            </a:extLst>
          </p:cNvPr>
          <p:cNvCxnSpPr>
            <a:cxnSpLocks/>
          </p:cNvCxnSpPr>
          <p:nvPr/>
        </p:nvCxnSpPr>
        <p:spPr>
          <a:xfrm flipV="1">
            <a:off x="4476363" y="1744264"/>
            <a:ext cx="1992530" cy="3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613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631D96-0AE3-4D42-9E8F-D9940513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051" y="-116731"/>
            <a:ext cx="5920868" cy="1206230"/>
          </a:xfrm>
        </p:spPr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 &amp; LIMITATIONS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C7D8063-64A5-40E2-AB32-895040525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62" y="1342417"/>
            <a:ext cx="10843064" cy="5515583"/>
          </a:xfrm>
        </p:spPr>
        <p:txBody>
          <a:bodyPr>
            <a:normAutofit/>
          </a:bodyPr>
          <a:lstStyle/>
          <a:p>
            <a:r>
              <a:rPr lang="en-GB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 integration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   </a:t>
            </a: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wireless camera can be added for live video streaming .user can fire location from mobile and control</a:t>
            </a:r>
          </a:p>
          <a:p>
            <a:pPr marL="0" indent="0">
              <a:buNone/>
            </a:pPr>
            <a:r>
              <a:rPr lang="en-GB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robot more accurately 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GB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GSM Module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             by adding GSM  , the robot can send SMS or call alerts to the fire department when fire is detected 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Gas Sensor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         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MQ – 2  or MQ-6 Sensor can be added to detect smoke and LPG  Gas leakage before fire starts.</a:t>
            </a:r>
          </a:p>
          <a:p>
            <a:r>
              <a:rPr lang="en-GB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&amp; IOT Based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     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AI , The robot can decide the best path to  reach fire . Using  IoT , multiple robot can work 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together and data can be store on cloud.</a:t>
            </a:r>
          </a:p>
          <a:p>
            <a:r>
              <a:rPr lang="en-GB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Larger size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             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same concept can be scaled up for big industrial fire fighter vehicles .</a:t>
            </a:r>
          </a:p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Range  Issue 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           Bluetooth  HC -05 has a range of only 10 – 15 meter .so  manual control is not  possible from long 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distance </a:t>
            </a:r>
          </a:p>
          <a:p>
            <a:pPr marL="0" indent="0">
              <a:buNone/>
            </a:pPr>
            <a:r>
              <a:rPr lang="en-GB" sz="18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water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tank </a:t>
            </a:r>
            <a:r>
              <a:rPr lang="en-GB" sz="16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:-   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robot carries a small water tank ,so it can not extinguish  large fire .it is only useful for small initial stage fire . 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Surface dependent :-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robot work best on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flate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surfaces . It can not climb stairs or move on rough terrain .  </a:t>
            </a: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786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684601-F285-4167-93A3-3B5F37A0B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873" y="0"/>
            <a:ext cx="3926697" cy="1478570"/>
          </a:xfrm>
        </p:spPr>
        <p:txBody>
          <a:bodyPr/>
          <a:lstStyle/>
          <a:p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AC130C-E95B-46E4-A71D-CA9BED1A9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073" y="1099191"/>
            <a:ext cx="9905999" cy="5633937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Residential buildings :-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in homes and apartments to extinguish small fire caused by kitchen accidents or short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circuits during initial stage 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Educational institutions :-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 be deployed in school and collage labs to handle chemical or electrical fire while keeping </a:t>
            </a:r>
          </a:p>
          <a:p>
            <a:pPr marL="0" indent="0">
              <a:buNone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 student at a safe distance  .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Offices &amp; data </a:t>
            </a:r>
            <a:r>
              <a:rPr lang="en-GB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centers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:-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protects  important documents and server  rooms from fire damage .useful where human </a:t>
            </a:r>
          </a:p>
          <a:p>
            <a:pPr marL="0" indent="0">
              <a:buNone/>
            </a:pP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 entry is risky due to smoke or toxic fumes .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scale industries :-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Acts as a first response system in factories  before the fire brigade arrives save time and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property</a:t>
            </a:r>
          </a:p>
          <a:p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Hospitals :-              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extinguish fire in sensitive areas like ICU or operation 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theaters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where  patient evacuation is </a:t>
            </a:r>
          </a:p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difficult 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.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more application like that forest areas , Military &amp; Defence system ,</a:t>
            </a:r>
            <a:r>
              <a:rPr lang="en-GB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shoping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malls etc.</a:t>
            </a: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07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41FE1-E60F-408C-A3F5-14A29FCC6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30" y="171046"/>
            <a:ext cx="3761327" cy="1093550"/>
          </a:xfrm>
        </p:spPr>
        <p:txBody>
          <a:bodyPr/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Result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3FE3EC-B995-438B-AB77-9EE5326C5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18682"/>
            <a:ext cx="9905999" cy="5379396"/>
          </a:xfrm>
        </p:spPr>
        <p:txBody>
          <a:bodyPr>
            <a:normAutofit/>
          </a:bodyPr>
          <a:lstStyle/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is 100% working and can be used as a first response system for small scale fire emergencies 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homes , labs offices , industries ,it reduce human risk and provides immediate action before the fire spreads.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robot  successfully detected fire from 25-30 cm using flame sensors.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automatic mode it moved towards the fire and extinguished it within 10-15 seconds.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manual mode all commands from the mobile app worked properly via Bluetooth up to 10 meter range.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water pump and buzzer system operated correctly during testing . 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84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046660-3467-4EDD-B058-21C0DBC5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548" y="0"/>
            <a:ext cx="3049622" cy="937908"/>
          </a:xfrm>
        </p:spPr>
        <p:txBody>
          <a:bodyPr>
            <a:norm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E48B2C-7F7D-4F61-AEC8-FCE0BF76C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147864"/>
            <a:ext cx="9905999" cy="5408578"/>
          </a:xfrm>
        </p:spPr>
        <p:txBody>
          <a:bodyPr>
            <a:normAutofit/>
          </a:bodyPr>
          <a:lstStyle/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Bluetooth &amp; Automatic controlled firefighter robot was successfully designed tested .it works efficiency 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both Automatic and Manual mode to detect and extinguish small fires 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provides low cost ,reliable ,and safe solution that reduces human  risk during fire emergencies 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act as first responder and can prevent major loss controlling fire the initial stage 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523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AA9943-B5CC-45AF-8F63-A5E7DAB7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94945"/>
            <a:ext cx="9905999" cy="48962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</a:p>
          <a:p>
            <a:pPr marL="0" indent="0">
              <a:buNone/>
            </a:pPr>
            <a:r>
              <a:rPr lang="en-GB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THANK YOU</a:t>
            </a:r>
          </a:p>
          <a:p>
            <a:pPr marL="0" indent="0">
              <a:buNone/>
            </a:pPr>
            <a:r>
              <a:rPr lang="en-GB" sz="8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8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976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BLUETOOTH &amp; AUTOMATIC CONTROLLED FIRE FIGHTER.pptx  1</Template>
  <TotalTime>0</TotalTime>
  <Words>1159</Words>
  <Application>Microsoft Office PowerPoint</Application>
  <PresentationFormat>Custom</PresentationFormat>
  <Paragraphs>176</Paragraphs>
  <Slides>15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Circuit</vt:lpstr>
      <vt:lpstr>BLUETOOTH &amp; AUTOMATIC CONTROLLED FIRE FIGHTER</vt:lpstr>
      <vt:lpstr>hmfa memorial institute of engineering                                                                                                                                                                                                                                                                     and technology  handia  prayagraj .</vt:lpstr>
      <vt:lpstr>submitted by </vt:lpstr>
      <vt:lpstr>Introduction </vt:lpstr>
      <vt:lpstr>Objectives </vt:lpstr>
      <vt:lpstr>Block diagram </vt:lpstr>
      <vt:lpstr>COMPONENT LIST </vt:lpstr>
      <vt:lpstr>CIRCUIT DIAGRAM</vt:lpstr>
      <vt:lpstr>WORKING OF FIRE FIGHTER </vt:lpstr>
      <vt:lpstr>FLOW CHART </vt:lpstr>
      <vt:lpstr>FUTURE SCOPE &amp; LIMITATIONS </vt:lpstr>
      <vt:lpstr>Applications  </vt:lpstr>
      <vt:lpstr>        Result </vt:lpstr>
      <vt:lpstr>Conclusion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BLUETOOTH &amp; AUTOMATIC CONTROLLED FIRE FIGHTER</dc:title>
  <dc:creator>Acer</dc:creator>
  <cp:lastModifiedBy>harsh sahu</cp:lastModifiedBy>
  <cp:revision>1</cp:revision>
  <dcterms:created xsi:type="dcterms:W3CDTF">2026-05-04T12:23:38Z</dcterms:created>
  <dcterms:modified xsi:type="dcterms:W3CDTF">2026-05-30T20:52:22Z</dcterms:modified>
</cp:coreProperties>
</file>